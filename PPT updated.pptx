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71" r:id="rId10"/>
    <p:sldId id="272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6B52-6988-A302-8732-67851397B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CBD0D-19F5-6173-DD0F-8D27FC46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2CC79-A4F8-2401-226E-1B604BD9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23A70-F32F-4436-A26E-BBAC46EB607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A14FA-8782-FBDC-CFE7-9CE8C027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1843F-A61D-619C-F2DB-C439AE49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EA6E-D75C-4E9C-87DB-9F1F363C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885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F5DF-3986-D3A5-290E-AC80B52E4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80D60-2F4E-E283-5AD1-11178B652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13A6F-0003-8421-52F6-98AE19EAE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23A70-F32F-4436-A26E-BBAC46EB607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BEDB3-35BC-31D7-8A19-9ACF1D38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291FF-0CB2-E808-1C28-FBE40F38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EA6E-D75C-4E9C-87DB-9F1F363C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34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4CBCC-7ADE-B0AD-C6F4-B79796B93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D91DC-CB89-8E04-3064-E1636F56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98C93-C1F5-7A13-E85A-3540F4F2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23A70-F32F-4436-A26E-BBAC46EB607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7BBA7-9F1B-AF31-2C16-2A2C680D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1316C-D675-162E-9A5F-5022D992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EA6E-D75C-4E9C-87DB-9F1F363C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797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59BF-31A6-BDC4-3BE6-482320813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BE78F-0835-D2D5-D2D1-C4DA5FA12A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193A2-044B-2378-C39D-E53CCD70A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CF3CA-1618-4E37-9AD1-F082573EF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23A70-F32F-4436-A26E-BBAC46EB607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5E473-8349-4247-83A2-CDE71E27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392AA-6ECB-31CF-77E0-A868D3CBE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EA6E-D75C-4E9C-87DB-9F1F363C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078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77D2-FDDA-896D-165B-30898029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98CF3-36B1-77A6-4E39-A36267C9C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5C4D52-96D0-227F-73D1-F90AE52FD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758DD-CF44-E8A3-74EC-52693F7ED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C4A7D-83AA-743D-C87C-280B99707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ED9BFF-CC28-2FB8-7091-63BD2F4F6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23A70-F32F-4436-A26E-BBAC46EB607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3E8D98-2CD4-AEB2-6936-BA6CF2752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F208A-E44A-68B6-9E15-B8807F736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EA6E-D75C-4E9C-87DB-9F1F363C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82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3EE77-08D0-3A58-654C-0080DD91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17D16-D68B-322B-D044-329F4E0A5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23A70-F32F-4436-A26E-BBAC46EB607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2EFDF-20B2-1AC8-3506-B548DFD6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6360A-FDD4-5B56-CD11-58DCB0AC9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EA6E-D75C-4E9C-87DB-9F1F363C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880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6DC1E-F280-0E28-F174-DF30A74DC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23A70-F32F-4436-A26E-BBAC46EB607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1B63B-BF93-B640-A754-8DF34FD2C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E6EBF-72DB-BA96-FDA2-DFF7631E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EA6E-D75C-4E9C-87DB-9F1F363C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106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186A-3527-3984-D1E6-FA9A02CC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C5CC2-ACC1-83FE-B3AF-2BF990AA0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BF5C8-50C4-6164-E238-A8B8726F8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6F4F0-109D-9C52-91D4-365005EB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23A70-F32F-4436-A26E-BBAC46EB607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FF6BC-F337-237B-7E45-46513798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80876-AAE3-5F74-C5E3-A579BF69A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EA6E-D75C-4E9C-87DB-9F1F363C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11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69E5-6195-8DEA-7363-750D9DDB6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94C01-2FF4-EC83-F6B7-90E64E9AB8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E2A0D-816A-27F4-DC35-0554478ED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27A5D-83E2-84CD-E0A2-D51299229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23A70-F32F-4436-A26E-BBAC46EB607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CFBE2-3424-14BA-BAE0-200FB750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4FAB6-ED10-64CD-4614-06DAAA58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EA6E-D75C-4E9C-87DB-9F1F363C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53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84D74-7123-CCD4-533C-7E41EF30C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35891-DA03-BD2E-CEAE-8C38E8480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2911B-A9C4-6C88-5CED-F6A2F16A5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23A70-F32F-4436-A26E-BBAC46EB607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6AC13-6968-12B1-DF34-0898BE5B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9ADB5-8785-8553-385D-63B5E854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EA6E-D75C-4E9C-87DB-9F1F363C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1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B5A9AC-28F0-78CF-C447-8670A505B6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BC7DD-AF93-228E-8996-B6C81D88A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7D8BB-D524-B523-2F4D-316AC577F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23A70-F32F-4436-A26E-BBAC46EB607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E25BB-098A-0A15-8E91-A098FAD34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F6E4A-C8AE-909F-12C8-9EFD4A03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9EA6E-D75C-4E9C-87DB-9F1F363C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51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F34A48-AF37-56D5-CAC5-5D13AAEC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8A7FC-AE85-AD0A-21FA-548271CF9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EBA73-8935-5C1A-12FA-E79F45AFE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23A70-F32F-4436-A26E-BBAC46EB607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8160F-3D8C-DA55-E62C-C441F38E5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8DCA-588D-0117-39FA-CB7BAF33F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9EA6E-D75C-4E9C-87DB-9F1F363C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21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53BB-653F-B895-8045-6E7D46D66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6244"/>
            <a:ext cx="10515600" cy="2042293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Retail Inventory &amp; Sales Performance Analysis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54FC8-A5E6-148C-753E-6EF94CC54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77" y="2277965"/>
            <a:ext cx="10515600" cy="3604361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r">
              <a:lnSpc>
                <a:spcPct val="400000"/>
              </a:lnSpc>
            </a:pPr>
            <a:r>
              <a:rPr lang="en-US" sz="2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" panose="020B0502040204020203" pitchFamily="34" charset="0"/>
              </a:rPr>
              <a:t>Data And Analytics Assignment </a:t>
            </a:r>
            <a:endParaRPr lang="en-IN" sz="2800" b="1" u="sng" dirty="0">
              <a:solidFill>
                <a:schemeClr val="tx1">
                  <a:lumMod val="95000"/>
                  <a:lumOff val="5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0FF811-C786-79F3-C201-9BE87FA37C57}"/>
              </a:ext>
            </a:extLst>
          </p:cNvPr>
          <p:cNvSpPr txBox="1"/>
          <p:nvPr/>
        </p:nvSpPr>
        <p:spPr>
          <a:xfrm>
            <a:off x="1244272" y="4996207"/>
            <a:ext cx="4845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Name: Sneha Das</a:t>
            </a:r>
          </a:p>
          <a:p>
            <a:r>
              <a:rPr lang="en-US" sz="1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Tools Used: Excel, SQL, Python, Power BI</a:t>
            </a:r>
            <a:endParaRPr lang="en-IN" sz="1600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4041C1-9CAE-3976-F525-A5120D62ADE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550" y="2396559"/>
            <a:ext cx="5142887" cy="241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753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31FF-BF9C-2305-25D8-4DC972AFA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7963"/>
            <a:ext cx="9144000" cy="79185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Constantia" panose="02030602050306030303" pitchFamily="18" charset="0"/>
              </a:rPr>
              <a:t>Objective -</a:t>
            </a:r>
            <a:endParaRPr lang="en-IN" sz="4000" dirty="0">
              <a:latin typeface="Constantia" panose="0203060205030603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D56AF-E8A6-33C1-BDD7-7D76D1F82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02936"/>
            <a:ext cx="9144000" cy="4713402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endParaRPr lang="en-US" sz="2000" dirty="0"/>
          </a:p>
          <a:p>
            <a:pPr algn="l">
              <a:lnSpc>
                <a:spcPct val="100000"/>
              </a:lnSpc>
            </a:pPr>
            <a:r>
              <a:rPr lang="en-US" sz="2000" dirty="0"/>
              <a:t>This assignment is to evaluate the Retail Inventory Performance and understand how the </a:t>
            </a:r>
            <a:r>
              <a:rPr lang="en-US" sz="2000" b="1" dirty="0"/>
              <a:t>Stocks</a:t>
            </a:r>
            <a:r>
              <a:rPr lang="en-US" sz="2000" dirty="0"/>
              <a:t> are converted to </a:t>
            </a:r>
            <a:r>
              <a:rPr lang="en-US" sz="2000" b="1" dirty="0"/>
              <a:t>Sales</a:t>
            </a:r>
            <a:r>
              <a:rPr lang="en-US" sz="2000" dirty="0"/>
              <a:t>.</a:t>
            </a:r>
          </a:p>
          <a:p>
            <a:pPr algn="l"/>
            <a:endParaRPr lang="en-US" dirty="0"/>
          </a:p>
          <a:p>
            <a:pPr algn="l"/>
            <a:r>
              <a:rPr lang="en-US" sz="2000" b="1" dirty="0">
                <a:latin typeface="Agency FB" panose="020B0503020202020204" pitchFamily="34" charset="0"/>
              </a:rPr>
              <a:t>Key points-</a:t>
            </a:r>
          </a:p>
          <a:p>
            <a:pPr algn="l"/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l"/>
            <a:r>
              <a:rPr lang="en-US" sz="2000" i="1" dirty="0">
                <a:latin typeface="Constantia" panose="02030602050306030303" pitchFamily="18" charset="0"/>
              </a:rPr>
              <a:t>• Analyze stock vs sales alignment</a:t>
            </a:r>
          </a:p>
          <a:p>
            <a:pPr algn="l"/>
            <a:r>
              <a:rPr lang="en-US" sz="2000" i="1" dirty="0">
                <a:latin typeface="Constantia" panose="02030602050306030303" pitchFamily="18" charset="0"/>
              </a:rPr>
              <a:t>• Identify overstocked and understocked attributes</a:t>
            </a:r>
          </a:p>
          <a:p>
            <a:pPr algn="l"/>
            <a:r>
              <a:rPr lang="en-US" sz="2000" i="1" dirty="0">
                <a:latin typeface="Constantia" panose="02030602050306030303" pitchFamily="18" charset="0"/>
              </a:rPr>
              <a:t>• Measure inventory efficiency</a:t>
            </a:r>
          </a:p>
          <a:p>
            <a:pPr algn="l"/>
            <a:r>
              <a:rPr lang="en-US" sz="2000" i="1" dirty="0">
                <a:latin typeface="Constantia" panose="02030602050306030303" pitchFamily="18" charset="0"/>
              </a:rPr>
              <a:t>• Evaluate store and regional performance</a:t>
            </a:r>
          </a:p>
          <a:p>
            <a:pPr algn="l"/>
            <a:r>
              <a:rPr lang="en-US" sz="2000" i="1" dirty="0">
                <a:latin typeface="Constantia" panose="02030602050306030303" pitchFamily="18" charset="0"/>
              </a:rPr>
              <a:t>• Provide recommendations for inventory optimization</a:t>
            </a:r>
            <a:endParaRPr lang="en-IN" sz="2000" i="1" dirty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06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9FC03-27F6-0D55-6526-6F777E542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9212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latin typeface="Constantia" panose="02030602050306030303" pitchFamily="18" charset="0"/>
              </a:rPr>
              <a:t>Dataset Overview - </a:t>
            </a:r>
            <a:endParaRPr lang="en-IN" sz="3600" b="1" dirty="0">
              <a:latin typeface="Constantia" panose="0203060205030603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AE0B6-0912-8362-4DA1-8C575B6FF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313"/>
            <a:ext cx="10515600" cy="359161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 analysis is done using four main datasets –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1. </a:t>
            </a:r>
            <a:r>
              <a:rPr lang="en-US" sz="2000" b="1" dirty="0"/>
              <a:t>Opening Stock </a:t>
            </a:r>
            <a:r>
              <a:rPr lang="en-US" sz="2000" i="1" dirty="0"/>
              <a:t>– Inventory available at the beginning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2. </a:t>
            </a:r>
            <a:r>
              <a:rPr lang="en-US" sz="2000" b="1" dirty="0"/>
              <a:t>Closing Stock </a:t>
            </a:r>
            <a:r>
              <a:rPr lang="en-US" sz="2000" dirty="0"/>
              <a:t>– </a:t>
            </a:r>
            <a:r>
              <a:rPr lang="en-US" sz="2000" i="1" dirty="0"/>
              <a:t>Inventory remaining after sales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3. </a:t>
            </a:r>
            <a:r>
              <a:rPr lang="en-US" sz="2000" b="1" dirty="0"/>
              <a:t>Sales Data </a:t>
            </a:r>
            <a:r>
              <a:rPr lang="en-US" sz="2000" dirty="0"/>
              <a:t>– </a:t>
            </a:r>
            <a:r>
              <a:rPr lang="en-US" sz="2000" i="1" dirty="0"/>
              <a:t>Product sales transactions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4. </a:t>
            </a:r>
            <a:r>
              <a:rPr lang="en-US" sz="2000" b="1" dirty="0"/>
              <a:t>Stock Transfer </a:t>
            </a:r>
            <a:r>
              <a:rPr lang="en-US" sz="2000" dirty="0"/>
              <a:t>– </a:t>
            </a:r>
            <a:r>
              <a:rPr lang="en-US" sz="2000" i="1" dirty="0"/>
              <a:t>Shipment quantities between stores</a:t>
            </a:r>
            <a:endParaRPr lang="en-IN" sz="20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72981-64E1-76CD-5463-CBDDD2019FFD}"/>
              </a:ext>
            </a:extLst>
          </p:cNvPr>
          <p:cNvSpPr txBox="1"/>
          <p:nvPr/>
        </p:nvSpPr>
        <p:spPr>
          <a:xfrm>
            <a:off x="5637229" y="297415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275B7-85C9-9DA6-17E1-4C26769BFEBC}"/>
              </a:ext>
            </a:extLst>
          </p:cNvPr>
          <p:cNvSpPr txBox="1"/>
          <p:nvPr/>
        </p:nvSpPr>
        <p:spPr>
          <a:xfrm>
            <a:off x="6325387" y="5099902"/>
            <a:ext cx="5028413" cy="13234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Total Records </a:t>
            </a:r>
            <a:r>
              <a:rPr lang="en-US" sz="2000" dirty="0"/>
              <a:t>– </a:t>
            </a:r>
            <a:r>
              <a:rPr lang="en-US" sz="2000" dirty="0">
                <a:highlight>
                  <a:srgbClr val="00FFFF"/>
                </a:highlight>
              </a:rPr>
              <a:t>100,000+ </a:t>
            </a:r>
            <a:r>
              <a:rPr lang="en-US" sz="2000" dirty="0"/>
              <a:t>rows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Attributes</a:t>
            </a:r>
            <a:r>
              <a:rPr lang="en-US" sz="2000" dirty="0"/>
              <a:t> -Store, Region, Product Code, Category, Gender etc.</a:t>
            </a:r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1FF7AB-0538-FB21-F1BD-17D8AFE14C2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2857" y="5099901"/>
            <a:ext cx="608029" cy="60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0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FEA4-1D48-814A-5220-9497890CB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039572" cy="813226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200" b="1" dirty="0">
                <a:latin typeface="Constantia" panose="02030602050306030303" pitchFamily="18" charset="0"/>
              </a:rPr>
              <a:t>Tools Used - </a:t>
            </a:r>
            <a:endParaRPr lang="en-IN" sz="3200" b="1" dirty="0">
              <a:latin typeface="Constantia" panose="0203060205030603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F3BF2-69F8-5955-14BC-8237C38B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614" y="1277133"/>
            <a:ext cx="10964158" cy="4986779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3800" b="1" dirty="0"/>
              <a:t>                            Excel</a:t>
            </a:r>
          </a:p>
          <a:p>
            <a:pPr marL="0" indent="0">
              <a:buNone/>
            </a:pPr>
            <a:r>
              <a:rPr lang="en-IN" sz="3500" i="1" dirty="0"/>
              <a:t>	• Data cleaning</a:t>
            </a:r>
          </a:p>
          <a:p>
            <a:pPr marL="0" indent="0">
              <a:buNone/>
            </a:pPr>
            <a:r>
              <a:rPr lang="en-IN" sz="3500" i="1" dirty="0"/>
              <a:t>	• Data modelling</a:t>
            </a:r>
          </a:p>
          <a:p>
            <a:pPr marL="0" indent="0">
              <a:buNone/>
            </a:pPr>
            <a:r>
              <a:rPr lang="en-IN" sz="3500" i="1" dirty="0"/>
              <a:t>                       • Pivot analysis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400" b="1" dirty="0"/>
              <a:t>    SQL</a:t>
            </a:r>
          </a:p>
          <a:p>
            <a:pPr marL="0" indent="0">
              <a:buNone/>
            </a:pPr>
            <a:r>
              <a:rPr lang="en-IN" sz="3500" i="1" dirty="0"/>
              <a:t>• Top categories by revenue</a:t>
            </a:r>
          </a:p>
          <a:p>
            <a:pPr marL="0" indent="0">
              <a:buNone/>
            </a:pPr>
            <a:r>
              <a:rPr lang="en-IN" sz="3500" i="1" dirty="0"/>
              <a:t>• Sell-through calculation</a:t>
            </a:r>
          </a:p>
          <a:p>
            <a:pPr marL="0" indent="0">
              <a:buNone/>
            </a:pPr>
            <a:r>
              <a:rPr lang="en-IN" sz="3500" i="1" dirty="0"/>
              <a:t>• Inventory comparisons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3400" b="1" dirty="0"/>
              <a:t>	Python</a:t>
            </a:r>
          </a:p>
          <a:p>
            <a:pPr marL="0" indent="0">
              <a:buNone/>
            </a:pPr>
            <a:r>
              <a:rPr lang="en-IN" sz="3500" i="1" dirty="0"/>
              <a:t>	• Data cleaning</a:t>
            </a:r>
          </a:p>
          <a:p>
            <a:pPr marL="0" indent="0">
              <a:buNone/>
            </a:pPr>
            <a:r>
              <a:rPr lang="en-IN" sz="3500" i="1" dirty="0"/>
              <a:t>	• Statistical analysis</a:t>
            </a:r>
          </a:p>
          <a:p>
            <a:pPr marL="0" indent="0">
              <a:buNone/>
            </a:pPr>
            <a:r>
              <a:rPr lang="en-IN" sz="3500" i="1" dirty="0"/>
              <a:t>	• Visualization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3400" b="1" dirty="0"/>
              <a:t>   Power BI</a:t>
            </a:r>
          </a:p>
          <a:p>
            <a:pPr marL="0" indent="0">
              <a:buNone/>
            </a:pPr>
            <a:r>
              <a:rPr lang="en-IN" sz="3500" i="1" dirty="0"/>
              <a:t>• Interactive dashboard</a:t>
            </a:r>
          </a:p>
          <a:p>
            <a:pPr marL="0" indent="0">
              <a:buNone/>
            </a:pPr>
            <a:r>
              <a:rPr lang="en-IN" sz="3500" i="1" dirty="0"/>
              <a:t>• Business insights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A5863B-9BED-358B-2166-DF0F1BC5F74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8726" y="1460958"/>
            <a:ext cx="612939" cy="6129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84B353-7AEC-A6B7-D47F-FD7C798EB44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764" y="4297712"/>
            <a:ext cx="693901" cy="4432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E69789-E1F2-8AC7-12FC-20B74B04666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8556" y="5488347"/>
            <a:ext cx="612938" cy="6129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ECBA7C-6805-CC07-292E-BB48D0316E4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5025" y="3011667"/>
            <a:ext cx="793374" cy="61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40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5C892-D6FA-BF81-16BD-065B51D5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6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latin typeface="Constantia" panose="02030602050306030303" pitchFamily="18" charset="0"/>
              </a:rPr>
              <a:t>Key Performance Metrics - </a:t>
            </a:r>
            <a:endParaRPr lang="en-IN" sz="3600" b="1" dirty="0">
              <a:latin typeface="Constantia" panose="0203060205030603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3F659-F377-320E-95FE-F77EDF36C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423"/>
            <a:ext cx="10515600" cy="4864231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u="sng" dirty="0">
                <a:latin typeface="Brush Script MT" panose="03060802040406070304" pitchFamily="66" charset="0"/>
              </a:rPr>
              <a:t>Sell Through Rate</a:t>
            </a:r>
          </a:p>
          <a:p>
            <a:pPr marL="0" indent="0">
              <a:buNone/>
            </a:pPr>
            <a:r>
              <a:rPr lang="en-US" sz="2400" i="1" dirty="0"/>
              <a:t>= Units Sold / (Opening Stock + Shipments)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u="sng" dirty="0">
                <a:latin typeface="Brush Script MT" panose="03060802040406070304" pitchFamily="66" charset="0"/>
              </a:rPr>
              <a:t>Stock-to-Sales Ratio</a:t>
            </a:r>
          </a:p>
          <a:p>
            <a:pPr marL="0" indent="0">
              <a:buNone/>
            </a:pPr>
            <a:r>
              <a:rPr lang="en-US" sz="2400" i="1" dirty="0"/>
              <a:t>= Average Stock / Sales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u="sng" dirty="0">
                <a:latin typeface="Brush Script MT" panose="03060802040406070304" pitchFamily="66" charset="0"/>
              </a:rPr>
              <a:t>Dead Stock Identification</a:t>
            </a:r>
          </a:p>
          <a:p>
            <a:pPr marL="0" indent="0">
              <a:buNone/>
            </a:pPr>
            <a:r>
              <a:rPr lang="en-US" sz="2400" dirty="0"/>
              <a:t>= </a:t>
            </a:r>
            <a:r>
              <a:rPr lang="en-US" sz="2400" i="1" dirty="0"/>
              <a:t>Products with stock but zero sales</a:t>
            </a:r>
          </a:p>
          <a:p>
            <a:endParaRPr lang="en-US" dirty="0"/>
          </a:p>
          <a:p>
            <a:r>
              <a:rPr lang="en-US" u="sng" dirty="0">
                <a:latin typeface="Brush Script MT" panose="03060802040406070304" pitchFamily="66" charset="0"/>
              </a:rPr>
              <a:t>Days of Stock (DOS)</a:t>
            </a:r>
          </a:p>
          <a:p>
            <a:pPr marL="0" indent="0">
              <a:buNone/>
            </a:pPr>
            <a:r>
              <a:rPr lang="en-US" sz="2400" dirty="0"/>
              <a:t>= </a:t>
            </a:r>
            <a:r>
              <a:rPr lang="en-US" sz="2400" i="1" dirty="0"/>
              <a:t>Closing Stock / Average Daily Sales</a:t>
            </a: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35861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264D2-E8AD-6BE8-3AB4-FEB0DBD5B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0E03C-BD78-3D4C-C9D7-4B2551C5A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6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latin typeface="Constantia" panose="02030602050306030303" pitchFamily="18" charset="0"/>
              </a:rPr>
              <a:t>Top Business problems Identified -</a:t>
            </a:r>
            <a:endParaRPr lang="en-IN" sz="3600" b="1" dirty="0">
              <a:latin typeface="Constantia" panose="0203060205030603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15735-C324-D964-430B-6B236E648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423"/>
            <a:ext cx="10515600" cy="4864231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1.  </a:t>
            </a:r>
            <a:r>
              <a:rPr lang="en-US" sz="2400" b="1" u="sng" dirty="0"/>
              <a:t>Inventory Overstock in Certain Categories</a:t>
            </a:r>
            <a:endParaRPr lang="en-US" sz="2400" u="sng" dirty="0"/>
          </a:p>
          <a:p>
            <a:r>
              <a:rPr lang="en-US" sz="2000" i="1" dirty="0">
                <a:latin typeface="Constantia" panose="02030602050306030303" pitchFamily="18" charset="0"/>
              </a:rPr>
              <a:t>Some categories show </a:t>
            </a:r>
            <a:r>
              <a:rPr lang="en-US" sz="2000" b="1" i="1" dirty="0">
                <a:latin typeface="Constantia" panose="02030602050306030303" pitchFamily="18" charset="0"/>
              </a:rPr>
              <a:t>high stock levels but low sales performance</a:t>
            </a:r>
            <a:r>
              <a:rPr lang="en-US" sz="2000" i="1" dirty="0">
                <a:latin typeface="Constantia" panose="02030602050306030303" pitchFamily="18" charset="0"/>
              </a:rPr>
              <a:t>.</a:t>
            </a:r>
          </a:p>
          <a:p>
            <a:r>
              <a:rPr lang="en-US" sz="2000" i="1" dirty="0">
                <a:latin typeface="Constantia" panose="02030602050306030303" pitchFamily="18" charset="0"/>
              </a:rPr>
              <a:t>This indicates inefficient inventory allocation and potential dead stock risk.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2. </a:t>
            </a:r>
            <a:r>
              <a:rPr lang="en-US" sz="2400" b="1" u="sng" dirty="0"/>
              <a:t>Mismatch Between Shipments and Sales Demand</a:t>
            </a:r>
            <a:endParaRPr lang="en-US" sz="2400" u="sng" dirty="0"/>
          </a:p>
          <a:p>
            <a:r>
              <a:rPr lang="en-US" sz="2000" i="1" dirty="0">
                <a:latin typeface="Constantia" panose="02030602050306030303" pitchFamily="18" charset="0"/>
              </a:rPr>
              <a:t>Several stores receive high shipments but generate comparatively low sales.</a:t>
            </a:r>
          </a:p>
          <a:p>
            <a:r>
              <a:rPr lang="en-US" sz="2000" i="1" dirty="0">
                <a:latin typeface="Constantia" panose="02030602050306030303" pitchFamily="18" charset="0"/>
              </a:rPr>
              <a:t>This results in </a:t>
            </a:r>
            <a:r>
              <a:rPr lang="en-US" sz="2000" b="1" i="1" dirty="0">
                <a:latin typeface="Constantia" panose="02030602050306030303" pitchFamily="18" charset="0"/>
              </a:rPr>
              <a:t>excess inventory accumulation</a:t>
            </a:r>
            <a:r>
              <a:rPr lang="en-US" sz="2000" i="1" dirty="0">
                <a:latin typeface="Constantia" panose="02030602050306030303" pitchFamily="18" charset="0"/>
              </a:rPr>
              <a:t>.</a:t>
            </a:r>
          </a:p>
          <a:p>
            <a:endParaRPr lang="en-US" sz="2000" i="1" dirty="0">
              <a:latin typeface="Constantia" panose="02030602050306030303" pitchFamily="18" charset="0"/>
            </a:endParaRPr>
          </a:p>
          <a:p>
            <a:pPr marL="0" indent="0">
              <a:buNone/>
            </a:pPr>
            <a:r>
              <a:rPr lang="en-US" sz="2400" dirty="0"/>
              <a:t>3. </a:t>
            </a:r>
            <a:r>
              <a:rPr lang="en-US" sz="2400" b="1" u="sng" dirty="0"/>
              <a:t>Uneven Regional Performance</a:t>
            </a:r>
            <a:endParaRPr lang="en-US" sz="2400" u="sng" dirty="0"/>
          </a:p>
          <a:p>
            <a:r>
              <a:rPr lang="en-US" sz="2400" i="1" dirty="0">
                <a:latin typeface="Constantia" panose="02030602050306030303" pitchFamily="18" charset="0"/>
              </a:rPr>
              <a:t>Sales contribution differs across regions.</a:t>
            </a:r>
          </a:p>
          <a:p>
            <a:r>
              <a:rPr lang="en-US" sz="2400" i="1" dirty="0">
                <a:latin typeface="Constantia" panose="02030602050306030303" pitchFamily="18" charset="0"/>
              </a:rPr>
              <a:t>Inventory allocation does not always align with regional demand patterns.</a:t>
            </a:r>
          </a:p>
          <a:p>
            <a:pPr marL="0" indent="0">
              <a:buNone/>
            </a:pP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2397958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FC8-47B1-601C-0F02-25693E71132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3600" b="1" dirty="0">
                <a:latin typeface="Constantia" panose="02030602050306030303" pitchFamily="18" charset="0"/>
              </a:rPr>
              <a:t>Recommended Immediate Actions </a:t>
            </a:r>
            <a:r>
              <a:rPr lang="en-US" dirty="0"/>
              <a:t>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9EF42-70A4-B584-DBEE-CB46E70A2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660775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i="1" dirty="0">
                <a:latin typeface="Agency FB" panose="020B0503020202020204" pitchFamily="34" charset="0"/>
              </a:rPr>
              <a:t>If would have been given the opportunity as a merchandising head, the following actions I would like to take based on my analysis so far – </a:t>
            </a:r>
          </a:p>
          <a:p>
            <a:pPr marL="0" indent="0">
              <a:buNone/>
            </a:pPr>
            <a:endParaRPr lang="en-US" sz="2400" i="1" dirty="0">
              <a:latin typeface="Constantia" panose="02030602050306030303" pitchFamily="18" charset="0"/>
            </a:endParaRPr>
          </a:p>
          <a:p>
            <a:r>
              <a:rPr lang="en-US" sz="2400" i="1" dirty="0">
                <a:latin typeface="Constantia" panose="02030602050306030303" pitchFamily="18" charset="0"/>
              </a:rPr>
              <a:t>Excess inventory from low performing stores to high demand regions can be re-allocated.</a:t>
            </a:r>
          </a:p>
          <a:p>
            <a:r>
              <a:rPr lang="en-US" sz="2400" i="1" dirty="0">
                <a:latin typeface="Constantia" panose="02030602050306030303" pitchFamily="18" charset="0"/>
              </a:rPr>
              <a:t>Stock allocation for top performing categories can be increased.</a:t>
            </a:r>
          </a:p>
          <a:p>
            <a:r>
              <a:rPr lang="en-US" sz="2400" i="1" dirty="0">
                <a:latin typeface="Constantia" panose="02030602050306030303" pitchFamily="18" charset="0"/>
              </a:rPr>
              <a:t>To minimize dead stock, the slow -moving categories should be minimized.</a:t>
            </a:r>
          </a:p>
          <a:p>
            <a:r>
              <a:rPr lang="en-US" sz="2400" i="1" dirty="0">
                <a:latin typeface="Constantia" panose="02030602050306030303" pitchFamily="18" charset="0"/>
              </a:rPr>
              <a:t>Weekly sell through monitoring should be implemented to track product performances. </a:t>
            </a:r>
            <a:endParaRPr lang="en-IN" sz="2400" i="1" dirty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142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17751-5FEC-06ED-4D03-775AE24EBF8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3600" b="1" dirty="0">
                <a:latin typeface="Constantia" panose="02030602050306030303" pitchFamily="18" charset="0"/>
              </a:rPr>
              <a:t>Revenue Growth Opportunity </a:t>
            </a:r>
            <a:r>
              <a:rPr lang="en-US" dirty="0"/>
              <a:t>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716C5-1C6D-2F18-4172-14FE9A8253F0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2400" i="1" dirty="0">
                <a:latin typeface="Constantia" panose="02030602050306030303" pitchFamily="18" charset="0"/>
              </a:rPr>
              <a:t>Category with high sales but limited inventory represents the biggest opportunity</a:t>
            </a:r>
          </a:p>
          <a:p>
            <a:r>
              <a:rPr lang="en-US" sz="2400" i="1" dirty="0">
                <a:latin typeface="Constantia" panose="02030602050306030303" pitchFamily="18" charset="0"/>
              </a:rPr>
              <a:t>Increased stock availability for such categories can drive additional revenue</a:t>
            </a:r>
            <a:r>
              <a:rPr lang="en-IN" sz="2400" i="1" dirty="0">
                <a:latin typeface="Constantia" panose="02030602050306030303" pitchFamily="18" charset="0"/>
              </a:rPr>
              <a:t>.</a:t>
            </a:r>
          </a:p>
          <a:p>
            <a:r>
              <a:rPr lang="en-IN" sz="2400" i="1" dirty="0">
                <a:latin typeface="Constantia" panose="02030602050306030303" pitchFamily="18" charset="0"/>
              </a:rPr>
              <a:t>Strong sales performance store should receive high merchandising allocation.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i="1" u="sng" dirty="0"/>
              <a:t>Reason-</a:t>
            </a:r>
          </a:p>
          <a:p>
            <a:pPr>
              <a:buFontTx/>
              <a:buChar char="-"/>
            </a:pPr>
            <a:r>
              <a:rPr lang="en-IN" sz="2000" i="1" dirty="0">
                <a:latin typeface="Bodoni MT" panose="02070603080606020203" pitchFamily="18" charset="0"/>
              </a:rPr>
              <a:t>High demands results strong customer preference.</a:t>
            </a:r>
          </a:p>
          <a:p>
            <a:pPr>
              <a:buFontTx/>
              <a:buChar char="-"/>
            </a:pPr>
            <a:r>
              <a:rPr lang="en-IN" sz="2000" i="1" dirty="0">
                <a:latin typeface="Bodoni MT" panose="02070603080606020203" pitchFamily="18" charset="0"/>
              </a:rPr>
              <a:t>Good inventory alignment can maximize sales potential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663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FE1E1-DECE-3800-0DA9-AB5296F2520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latin typeface="Constantia" panose="02030602050306030303" pitchFamily="18" charset="0"/>
              </a:rPr>
              <a:t>Additional Data Requirement-</a:t>
            </a:r>
            <a:endParaRPr lang="en-IN" sz="3600" b="1" dirty="0">
              <a:latin typeface="Constantia" panose="0203060205030603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681DE-7946-8E00-90D0-9560FF60C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84981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endParaRPr lang="en-US" sz="2400" i="1" dirty="0">
              <a:latin typeface="Constantia" panose="02030602050306030303" pitchFamily="18" charset="0"/>
            </a:endParaRPr>
          </a:p>
          <a:p>
            <a:endParaRPr lang="en-US" sz="2400" i="1" dirty="0">
              <a:latin typeface="Constantia" panose="02030602050306030303" pitchFamily="18" charset="0"/>
            </a:endParaRPr>
          </a:p>
          <a:p>
            <a:r>
              <a:rPr lang="en-US" sz="2400" i="1" dirty="0">
                <a:latin typeface="Constantia" panose="02030602050306030303" pitchFamily="18" charset="0"/>
              </a:rPr>
              <a:t>To get more deeper analysis, the following information would be helpful</a:t>
            </a:r>
          </a:p>
          <a:p>
            <a:r>
              <a:rPr lang="en-US" sz="2400" i="1" dirty="0">
                <a:latin typeface="Constantia" panose="02030602050306030303" pitchFamily="18" charset="0"/>
              </a:rPr>
              <a:t>Price of product, information on discounts</a:t>
            </a:r>
          </a:p>
          <a:p>
            <a:r>
              <a:rPr lang="en-US" sz="2400" i="1" dirty="0">
                <a:latin typeface="Constantia" panose="02030602050306030303" pitchFamily="18" charset="0"/>
              </a:rPr>
              <a:t>Customers purchase behavior</a:t>
            </a:r>
          </a:p>
          <a:p>
            <a:r>
              <a:rPr lang="en-US" sz="2400" i="1" dirty="0">
                <a:latin typeface="Constantia" panose="02030602050306030303" pitchFamily="18" charset="0"/>
              </a:rPr>
              <a:t>Sales trends</a:t>
            </a:r>
          </a:p>
          <a:p>
            <a:r>
              <a:rPr lang="en-US" sz="2400" i="1" dirty="0">
                <a:latin typeface="Constantia" panose="02030602050306030303" pitchFamily="18" charset="0"/>
              </a:rPr>
              <a:t>Product return and exchange data</a:t>
            </a:r>
          </a:p>
        </p:txBody>
      </p:sp>
    </p:spTree>
    <p:extLst>
      <p:ext uri="{BB962C8B-B14F-4D97-AF65-F5344CB8AC3E}">
        <p14:creationId xmlns:p14="http://schemas.microsoft.com/office/powerpoint/2010/main" val="663693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ED4CF-A621-80C5-CA49-3F820E803E2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latin typeface="Constantia" panose="02030602050306030303" pitchFamily="18" charset="0"/>
              </a:rPr>
              <a:t>Process Improvement for Inventory Planning</a:t>
            </a:r>
            <a:endParaRPr lang="en-IN" sz="3600" b="1" dirty="0">
              <a:latin typeface="Constantia" panose="0203060205030603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410BF-57A0-1D8C-0338-4906A1CDE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93509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i="1" dirty="0">
              <a:latin typeface="Constantia" panose="02030602050306030303" pitchFamily="18" charset="0"/>
            </a:endParaRPr>
          </a:p>
          <a:p>
            <a:r>
              <a:rPr lang="en-US" sz="2400" i="1" dirty="0">
                <a:latin typeface="Constantia" panose="02030602050306030303" pitchFamily="18" charset="0"/>
              </a:rPr>
              <a:t>Sell through weekly for the products should be monitored</a:t>
            </a:r>
          </a:p>
          <a:p>
            <a:r>
              <a:rPr lang="en-US" sz="2400" i="1" dirty="0">
                <a:latin typeface="Constantia" panose="02030602050306030303" pitchFamily="18" charset="0"/>
              </a:rPr>
              <a:t>Stocks should be allocated with demand patterns</a:t>
            </a:r>
          </a:p>
          <a:p>
            <a:r>
              <a:rPr lang="en-US" sz="2400" i="1" dirty="0">
                <a:latin typeface="Constantia" panose="02030602050306030303" pitchFamily="18" charset="0"/>
              </a:rPr>
              <a:t>Shipment quantities should be determined </a:t>
            </a:r>
            <a:endParaRPr lang="en-IN" sz="2400" i="1" dirty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591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4A4A-97B2-B058-4317-4FE9DD617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372FD-F466-C826-8FA4-B2A395C50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2472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latin typeface="Agency FB" panose="020B0503020202020204" pitchFamily="34" charset="0"/>
              </a:rPr>
              <a:t>Following insights –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i="1" dirty="0">
                <a:latin typeface="Constantia" panose="02030602050306030303" pitchFamily="18" charset="0"/>
              </a:rPr>
              <a:t>• Inventory allocation based on regional demand patterns can be adjusted.</a:t>
            </a:r>
          </a:p>
          <a:p>
            <a:pPr marL="0" indent="0">
              <a:buNone/>
            </a:pPr>
            <a:r>
              <a:rPr lang="en-US" sz="2000" i="1" dirty="0">
                <a:latin typeface="Constantia" panose="02030602050306030303" pitchFamily="18" charset="0"/>
              </a:rPr>
              <a:t>• We can increase shipments for high-performing categories.</a:t>
            </a:r>
          </a:p>
          <a:p>
            <a:pPr marL="0" indent="0">
              <a:buNone/>
            </a:pPr>
            <a:r>
              <a:rPr lang="en-US" sz="2000" i="1" dirty="0">
                <a:latin typeface="Constantia" panose="02030602050306030303" pitchFamily="18" charset="0"/>
              </a:rPr>
              <a:t>• Reduce stock for slow-moving products.</a:t>
            </a:r>
          </a:p>
          <a:p>
            <a:pPr marL="0" indent="0">
              <a:buNone/>
            </a:pPr>
            <a:r>
              <a:rPr lang="en-US" sz="2000" i="1" dirty="0">
                <a:latin typeface="Constantia" panose="02030602050306030303" pitchFamily="18" charset="0"/>
              </a:rPr>
              <a:t>• Regular monitoring of sell-through rates should be done.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323778-9EBF-A19A-8356-BD88C4A1E6B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latin typeface="Constantia" panose="02030602050306030303" pitchFamily="18" charset="0"/>
              </a:rPr>
              <a:t>Business Ideas- </a:t>
            </a:r>
            <a:endParaRPr lang="en-IN" sz="3600" b="1" dirty="0">
              <a:latin typeface="Constantia" panose="0203060205030603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DE5D01-5B35-2AA2-C32F-68F84F4B4BA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8903" y="2628491"/>
            <a:ext cx="2337849" cy="257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404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C1B45-9BA1-0404-D645-77A94BBB7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499" y="867266"/>
            <a:ext cx="11566689" cy="264269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300000"/>
              </a:lnSpc>
            </a:pPr>
            <a:r>
              <a:rPr lang="en-US" sz="9600" b="1" dirty="0">
                <a:latin typeface="Berlin Sans FB Demi" panose="020E0802020502020306" pitchFamily="34" charset="0"/>
              </a:rPr>
              <a:t>THANK YOU </a:t>
            </a:r>
            <a:endParaRPr lang="en-IN" sz="9600" b="1" dirty="0">
              <a:latin typeface="Berlin Sans FB Demi" panose="020E0802020502020306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C237-6FCF-6F94-2654-72503F5A7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68304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2000" dirty="0">
                <a:latin typeface="Brush Script MT" panose="03060802040406070304" pitchFamily="66" charset="0"/>
              </a:rPr>
              <a:t>I appreciate the opportunity to work on this assignment.</a:t>
            </a:r>
            <a:br>
              <a:rPr lang="en-US" sz="2000" dirty="0">
                <a:latin typeface="Brush Script MT" panose="03060802040406070304" pitchFamily="66" charset="0"/>
              </a:rPr>
            </a:br>
            <a:r>
              <a:rPr lang="en-US" sz="2000" dirty="0">
                <a:latin typeface="Brush Script MT" panose="03060802040406070304" pitchFamily="66" charset="0"/>
              </a:rPr>
              <a:t>Looking Forward ! </a:t>
            </a:r>
            <a:endParaRPr lang="en-IN" sz="20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876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581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Agency FB</vt:lpstr>
      <vt:lpstr>Arial</vt:lpstr>
      <vt:lpstr>Bahnschrift Light</vt:lpstr>
      <vt:lpstr>Bahnschrift SemiBold Condensed</vt:lpstr>
      <vt:lpstr>Berlin Sans FB Demi</vt:lpstr>
      <vt:lpstr>Bodoni MT</vt:lpstr>
      <vt:lpstr>Brush Script MT</vt:lpstr>
      <vt:lpstr>Calibri</vt:lpstr>
      <vt:lpstr>Calibri Light</vt:lpstr>
      <vt:lpstr>Constantia</vt:lpstr>
      <vt:lpstr>Office Theme</vt:lpstr>
      <vt:lpstr>Retail Inventory &amp; Sales Performance Analysis</vt:lpstr>
      <vt:lpstr>Objective -</vt:lpstr>
      <vt:lpstr>Dataset Overview - </vt:lpstr>
      <vt:lpstr>Tools Used - </vt:lpstr>
      <vt:lpstr>Key Performance Metrics - </vt:lpstr>
      <vt:lpstr>Top Business problems Identified -</vt:lpstr>
      <vt:lpstr>Recommended Immediate Actions - </vt:lpstr>
      <vt:lpstr>Revenue Growth Opportunity -</vt:lpstr>
      <vt:lpstr>Additional Data Requirement-</vt:lpstr>
      <vt:lpstr>Process Improvement for Inventory Planning</vt:lpstr>
      <vt:lpstr>Business Ideas-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das</dc:creator>
  <cp:lastModifiedBy>sneha das</cp:lastModifiedBy>
  <cp:revision>3</cp:revision>
  <dcterms:created xsi:type="dcterms:W3CDTF">2026-03-08T07:02:29Z</dcterms:created>
  <dcterms:modified xsi:type="dcterms:W3CDTF">2026-03-11T04:31:34Z</dcterms:modified>
</cp:coreProperties>
</file>